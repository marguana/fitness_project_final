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12192000" cy="6858000"/>
  <p:defaultTextStyle>
    <a:defPPr>
      <a:defRPr lang="ru-RU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5" d="102"/>
          <a:sy n="99" d="101"/>
        </p:scale>
        <p:origin x="112" y="112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058"/>
          <p:cNvSpPr>
            <a:spLocks noChangeArrowheads="1" noGrp="1"/>
          </p:cNvSpPr>
          <p:nvPr userDrawn="1"/>
        </p:nvSpPr>
        <p:spPr bwMode="auto">
          <a:xfrm>
            <a:off x="8220990" y="1"/>
            <a:ext cx="3971006" cy="685746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74" y="0"/>
                </a:moveTo>
                <a:lnTo>
                  <a:pt x="3874" y="19794"/>
                </a:lnTo>
                <a:lnTo>
                  <a:pt x="3874" y="19794"/>
                </a:lnTo>
                <a:cubicBezTo>
                  <a:pt x="3874" y="19794"/>
                  <a:pt x="3932" y="19794"/>
                  <a:pt x="3932" y="19794"/>
                </a:cubicBezTo>
                <a:lnTo>
                  <a:pt x="3932" y="19794"/>
                </a:lnTo>
                <a:cubicBezTo>
                  <a:pt x="1759" y="19794"/>
                  <a:pt x="0" y="20605"/>
                  <a:pt x="0" y="21600"/>
                </a:cubicBezTo>
                <a:lnTo>
                  <a:pt x="0" y="21600"/>
                </a:lnTo>
                <a:cubicBezTo>
                  <a:pt x="0" y="22594"/>
                  <a:pt x="1759" y="23405"/>
                  <a:pt x="3932" y="23405"/>
                </a:cubicBezTo>
                <a:lnTo>
                  <a:pt x="3932" y="23405"/>
                </a:lnTo>
                <a:cubicBezTo>
                  <a:pt x="3932" y="23405"/>
                  <a:pt x="3874" y="23405"/>
                  <a:pt x="3874" y="23405"/>
                </a:cubicBezTo>
                <a:lnTo>
                  <a:pt x="3874" y="43200"/>
                </a:lnTo>
                <a:lnTo>
                  <a:pt x="43200" y="43200"/>
                </a:lnTo>
                <a:lnTo>
                  <a:pt x="43200" y="0"/>
                </a:lnTo>
                <a:lnTo>
                  <a:pt x="387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1" name="Shape 1102"/>
          <p:cNvSpPr>
            <a:spLocks noChangeArrowheads="1" noGrp="1"/>
          </p:cNvSpPr>
          <p:nvPr userDrawn="1"/>
        </p:nvSpPr>
        <p:spPr bwMode="auto">
          <a:xfrm>
            <a:off x="8400256" y="3356809"/>
            <a:ext cx="190500" cy="14524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0"/>
                </a:moveTo>
                <a:lnTo>
                  <a:pt x="43200" y="43200"/>
                </a:lnTo>
                <a:lnTo>
                  <a:pt x="0" y="21623"/>
                </a:lnTo>
                <a:lnTo>
                  <a:pt x="43200" y="0"/>
                </a:lnTo>
              </a:path>
            </a:pathLst>
          </a:custGeom>
          <a:solidFill>
            <a:srgbClr val="FFFFFF"/>
          </a:solidFill>
          <a:ln w="9524" cap="rnd">
            <a:solidFill>
              <a:srgbClr val="000000"/>
            </a:solidFill>
            <a:bevel/>
            <a:headEnd/>
            <a:tailEnd/>
          </a:ln>
        </p:spPr>
      </p:sp>
      <p:sp>
        <p:nvSpPr>
          <p:cNvPr id="19" name="Text Placeholder 4"/>
          <p:cNvSpPr>
            <a:spLocks noGrp="1"/>
          </p:cNvSpPr>
          <p:nvPr>
            <p:ph type="subTitle" idx="1"/>
          </p:nvPr>
        </p:nvSpPr>
        <p:spPr bwMode="auto">
          <a:xfrm>
            <a:off x="8881393" y="2597939"/>
            <a:ext cx="2974884" cy="166158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171450" indent="-171450" algn="l">
              <a:buFont typeface="Arial"/>
              <a:buChar char="•"/>
              <a:defRPr sz="20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/>
              <a:t>Образец подзаголовка</a:t>
            </a: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3396" y="2569090"/>
            <a:ext cx="7383252" cy="1654020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11" name="Дата 10"/>
          <p:cNvSpPr>
            <a:spLocks noGrp="1"/>
          </p:cNvSpPr>
          <p:nvPr>
            <p:ph type="dt" sz="half" idx="15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63084" y="4406904"/>
            <a:ext cx="10363200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963084" y="2906717"/>
            <a:ext cx="10363200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15413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97600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15413" y="1535113"/>
            <a:ext cx="5181104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15413" y="2174874"/>
            <a:ext cx="518110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93377" y="1535113"/>
            <a:ext cx="5183210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93377" y="2174874"/>
            <a:ext cx="5183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10" y="273054"/>
            <a:ext cx="4011084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10" y="1435104"/>
            <a:ext cx="4011084" cy="46910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15413" y="4800604"/>
            <a:ext cx="1056117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815413" y="612778"/>
            <a:ext cx="10561173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15413" y="5367337"/>
            <a:ext cx="1056117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839200" y="274642"/>
            <a:ext cx="2743200" cy="5835649"/>
          </a:xfrm>
        </p:spPr>
        <p:txBody>
          <a:bodyPr vert="eaVert"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609600" y="274642"/>
            <a:ext cx="8026400" cy="5835649"/>
          </a:xfrm>
        </p:spPr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100"/>
          <p:cNvSpPr>
            <a:spLocks noChangeArrowheads="1" noGrp="1"/>
          </p:cNvSpPr>
          <p:nvPr userDrawn="1"/>
        </p:nvSpPr>
        <p:spPr bwMode="auto">
          <a:xfrm>
            <a:off x="3669" y="270"/>
            <a:ext cx="12184661" cy="6857460"/>
          </a:xfrm>
          <a:custGeom>
            <a:avLst/>
            <a:gdLst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1239 w 43199"/>
              <a:gd name="connsiteY2" fmla="*/ 21600 h 43200"/>
              <a:gd name="connsiteX3" fmla="*/ 43199 w 43199"/>
              <a:gd name="connsiteY3" fmla="*/ 19794 h 43200"/>
              <a:gd name="connsiteX4" fmla="*/ 43199 w 43199"/>
              <a:gd name="connsiteY4" fmla="*/ 19794 h 43200"/>
              <a:gd name="connsiteX5" fmla="*/ 43174 w 43199"/>
              <a:gd name="connsiteY5" fmla="*/ 19794 h 43200"/>
              <a:gd name="connsiteX6" fmla="*/ 43174 w 43199"/>
              <a:gd name="connsiteY6" fmla="*/ 0 h 43200"/>
              <a:gd name="connsiteX7" fmla="*/ 0 w 43199"/>
              <a:gd name="connsiteY7" fmla="*/ 0 h 43200"/>
              <a:gd name="connsiteX8" fmla="*/ 0 w 43199"/>
              <a:gd name="connsiteY8" fmla="*/ 43200 h 43200"/>
              <a:gd name="connsiteX9" fmla="*/ 43174 w 43199"/>
              <a:gd name="connsiteY9" fmla="*/ 43200 h 43200"/>
              <a:gd name="connsiteX10" fmla="*/ 43174 w 43199"/>
              <a:gd name="connsiteY10" fmla="*/ 23405 h 43200"/>
              <a:gd name="connsiteX11" fmla="*/ 43174 w 43199"/>
              <a:gd name="connsiteY11" fmla="*/ 23405 h 43200"/>
              <a:gd name="connsiteX12" fmla="*/ 43199 w 43199"/>
              <a:gd name="connsiteY12" fmla="*/ 23405 h 43200"/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11" fmla="*/ 43199 w 43199"/>
              <a:gd name="connsiteY11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9" fmla="*/ 43174 w 43199"/>
              <a:gd name="connsiteY9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74 w 43199"/>
              <a:gd name="connsiteY3" fmla="*/ 0 h 43200"/>
              <a:gd name="connsiteX4" fmla="*/ 0 w 43199"/>
              <a:gd name="connsiteY4" fmla="*/ 0 h 43200"/>
              <a:gd name="connsiteX5" fmla="*/ 0 w 43199"/>
              <a:gd name="connsiteY5" fmla="*/ 43200 h 43200"/>
              <a:gd name="connsiteX6" fmla="*/ 43174 w 43199"/>
              <a:gd name="connsiteY6" fmla="*/ 43200 h 43200"/>
              <a:gd name="connsiteX0" fmla="*/ 43174 w 46380"/>
              <a:gd name="connsiteY0" fmla="*/ 43200 h 43200"/>
              <a:gd name="connsiteX1" fmla="*/ 43199 w 46380"/>
              <a:gd name="connsiteY1" fmla="*/ 19794 h 43200"/>
              <a:gd name="connsiteX2" fmla="*/ 43174 w 46380"/>
              <a:gd name="connsiteY2" fmla="*/ 0 h 43200"/>
              <a:gd name="connsiteX3" fmla="*/ 0 w 46380"/>
              <a:gd name="connsiteY3" fmla="*/ 0 h 43200"/>
              <a:gd name="connsiteX4" fmla="*/ 0 w 46380"/>
              <a:gd name="connsiteY4" fmla="*/ 43200 h 43200"/>
              <a:gd name="connsiteX5" fmla="*/ 43174 w 46380"/>
              <a:gd name="connsiteY5" fmla="*/ 43200 h 43200"/>
              <a:gd name="connsiteX0" fmla="*/ 43174 w 43199"/>
              <a:gd name="connsiteY0" fmla="*/ 43200 h 43200"/>
              <a:gd name="connsiteX1" fmla="*/ 43199 w 43199"/>
              <a:gd name="connsiteY1" fmla="*/ 19794 h 43200"/>
              <a:gd name="connsiteX2" fmla="*/ 43174 w 43199"/>
              <a:gd name="connsiteY2" fmla="*/ 0 h 43200"/>
              <a:gd name="connsiteX3" fmla="*/ 0 w 43199"/>
              <a:gd name="connsiteY3" fmla="*/ 0 h 43200"/>
              <a:gd name="connsiteX4" fmla="*/ 0 w 43199"/>
              <a:gd name="connsiteY4" fmla="*/ 43200 h 43200"/>
              <a:gd name="connsiteX5" fmla="*/ 43174 w 43199"/>
              <a:gd name="connsiteY5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74" h="43200" fill="norm" stroke="0" extrusionOk="0">
                <a:moveTo>
                  <a:pt x="43174" y="43200"/>
                </a:moveTo>
                <a:lnTo>
                  <a:pt x="43174" y="0"/>
                </a:lnTo>
                <a:lnTo>
                  <a:pt x="0" y="0"/>
                </a:lnTo>
                <a:lnTo>
                  <a:pt x="0" y="43200"/>
                </a:lnTo>
                <a:lnTo>
                  <a:pt x="43174" y="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" name="Shape 1103"/>
          <p:cNvSpPr>
            <a:spLocks noChangeArrowheads="1" noGrp="1"/>
          </p:cNvSpPr>
          <p:nvPr userDrawn="1"/>
        </p:nvSpPr>
        <p:spPr bwMode="auto">
          <a:xfrm>
            <a:off x="183165" y="101752"/>
            <a:ext cx="7789614" cy="58578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9"/>
                  <a:pt x="33448" y="43199"/>
                  <a:pt x="21600" y="43199"/>
                </a:cubicBezTo>
                <a:lnTo>
                  <a:pt x="21600" y="43199"/>
                </a:lnTo>
                <a:cubicBezTo>
                  <a:pt x="9749" y="43199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600" y="0"/>
                </a:cubicBezTo>
                <a:lnTo>
                  <a:pt x="21600" y="0"/>
                </a:lnTo>
                <a:cubicBezTo>
                  <a:pt x="33448" y="0"/>
                  <a:pt x="43199" y="9750"/>
                  <a:pt x="43199" y="21599"/>
                </a:cubicBezTo>
              </a:path>
            </a:pathLst>
          </a:custGeom>
          <a:solidFill>
            <a:srgbClr val="FFFFFF">
              <a:alpha val="156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" name="Shape 1104"/>
          <p:cNvSpPr>
            <a:spLocks noChangeArrowheads="1" noGrp="1"/>
          </p:cNvSpPr>
          <p:nvPr userDrawn="1"/>
        </p:nvSpPr>
        <p:spPr bwMode="auto">
          <a:xfrm>
            <a:off x="244972" y="130324"/>
            <a:ext cx="7610404" cy="572343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313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" name="Shape 1105"/>
          <p:cNvSpPr>
            <a:spLocks noChangeArrowheads="1" noGrp="1"/>
          </p:cNvSpPr>
          <p:nvPr userDrawn="1"/>
        </p:nvSpPr>
        <p:spPr bwMode="auto">
          <a:xfrm>
            <a:off x="306493" y="159054"/>
            <a:ext cx="7431757" cy="55888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50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50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" name="Shape 1106"/>
          <p:cNvSpPr>
            <a:spLocks noChangeArrowheads="1" noGrp="1"/>
          </p:cNvSpPr>
          <p:nvPr userDrawn="1"/>
        </p:nvSpPr>
        <p:spPr bwMode="auto">
          <a:xfrm>
            <a:off x="368021" y="187788"/>
            <a:ext cx="7252828" cy="54543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7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7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627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" name="Shape 1107"/>
          <p:cNvSpPr>
            <a:spLocks noChangeArrowheads="1" noGrp="1"/>
          </p:cNvSpPr>
          <p:nvPr userDrawn="1"/>
        </p:nvSpPr>
        <p:spPr bwMode="auto">
          <a:xfrm>
            <a:off x="429541" y="216360"/>
            <a:ext cx="7074181" cy="5319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8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51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51"/>
                  <a:pt x="9751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" name="Shape 1108"/>
          <p:cNvSpPr>
            <a:spLocks noChangeArrowheads="1" noGrp="1"/>
          </p:cNvSpPr>
          <p:nvPr userDrawn="1"/>
        </p:nvSpPr>
        <p:spPr bwMode="auto">
          <a:xfrm>
            <a:off x="491348" y="245090"/>
            <a:ext cx="6894970" cy="518531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941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" name="Shape 1109"/>
          <p:cNvSpPr>
            <a:spLocks noChangeArrowheads="1" noGrp="1"/>
          </p:cNvSpPr>
          <p:nvPr userDrawn="1"/>
        </p:nvSpPr>
        <p:spPr bwMode="auto">
          <a:xfrm>
            <a:off x="552877" y="273821"/>
            <a:ext cx="6716041" cy="505071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49" y="43199"/>
                  <a:pt x="21600" y="43199"/>
                </a:cubicBezTo>
                <a:lnTo>
                  <a:pt x="21600" y="43199"/>
                </a:lnTo>
                <a:cubicBezTo>
                  <a:pt x="9750" y="43199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8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8"/>
                  <a:pt x="43200" y="21600"/>
                </a:cubicBezTo>
              </a:path>
            </a:pathLst>
          </a:custGeom>
          <a:solidFill>
            <a:srgbClr val="FFFFFF">
              <a:alpha val="1098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" name="Shape 1110"/>
          <p:cNvSpPr>
            <a:spLocks noChangeArrowheads="1" noGrp="1"/>
          </p:cNvSpPr>
          <p:nvPr userDrawn="1"/>
        </p:nvSpPr>
        <p:spPr bwMode="auto">
          <a:xfrm>
            <a:off x="614397" y="302396"/>
            <a:ext cx="6537394" cy="49162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199" y="9751"/>
                  <a:pt x="43199" y="21600"/>
                </a:cubicBezTo>
              </a:path>
            </a:pathLst>
          </a:custGeom>
          <a:solidFill>
            <a:srgbClr val="FFFFFF">
              <a:alpha val="1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" name="Shape 1111"/>
          <p:cNvSpPr>
            <a:spLocks noChangeArrowheads="1" noGrp="1"/>
          </p:cNvSpPr>
          <p:nvPr userDrawn="1"/>
        </p:nvSpPr>
        <p:spPr bwMode="auto">
          <a:xfrm>
            <a:off x="676204" y="331128"/>
            <a:ext cx="6358184" cy="4781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199"/>
                  <a:pt x="21598" y="43199"/>
                </a:cubicBezTo>
                <a:lnTo>
                  <a:pt x="21598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8" y="0"/>
                </a:cubicBezTo>
                <a:lnTo>
                  <a:pt x="21598" y="0"/>
                </a:lnTo>
                <a:cubicBezTo>
                  <a:pt x="33449" y="0"/>
                  <a:pt x="43199" y="9750"/>
                  <a:pt x="43199" y="21600"/>
                </a:cubicBezTo>
              </a:path>
            </a:pathLst>
          </a:custGeom>
          <a:solidFill>
            <a:srgbClr val="FFFFFF">
              <a:alpha val="1411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" name="Shape 1112"/>
          <p:cNvSpPr>
            <a:spLocks noChangeArrowheads="1" noGrp="1"/>
          </p:cNvSpPr>
          <p:nvPr userDrawn="1"/>
        </p:nvSpPr>
        <p:spPr bwMode="auto">
          <a:xfrm>
            <a:off x="737732" y="359857"/>
            <a:ext cx="6179254" cy="464704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199"/>
                  <a:pt x="21599" y="43199"/>
                </a:cubicBezTo>
                <a:lnTo>
                  <a:pt x="21599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15686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" name="Shape 1113"/>
          <p:cNvSpPr>
            <a:spLocks noChangeArrowheads="1" noGrp="1"/>
          </p:cNvSpPr>
          <p:nvPr userDrawn="1"/>
        </p:nvSpPr>
        <p:spPr bwMode="auto">
          <a:xfrm>
            <a:off x="799253" y="388590"/>
            <a:ext cx="6000608" cy="45124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1764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" name="Shape 1114"/>
          <p:cNvSpPr>
            <a:spLocks noChangeArrowheads="1" noGrp="1"/>
          </p:cNvSpPr>
          <p:nvPr userDrawn="1"/>
        </p:nvSpPr>
        <p:spPr bwMode="auto">
          <a:xfrm>
            <a:off x="860777" y="417163"/>
            <a:ext cx="5821680" cy="437798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1921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" name="Shape 1115"/>
          <p:cNvSpPr>
            <a:spLocks noChangeArrowheads="1" noGrp="1"/>
          </p:cNvSpPr>
          <p:nvPr userDrawn="1"/>
        </p:nvSpPr>
        <p:spPr bwMode="auto">
          <a:xfrm>
            <a:off x="922588" y="445894"/>
            <a:ext cx="5642750" cy="42435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48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8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0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" name="Shape 1116"/>
          <p:cNvSpPr>
            <a:spLocks noChangeArrowheads="1" noGrp="1"/>
          </p:cNvSpPr>
          <p:nvPr userDrawn="1"/>
        </p:nvSpPr>
        <p:spPr bwMode="auto">
          <a:xfrm>
            <a:off x="984108" y="474624"/>
            <a:ext cx="5463821" cy="410892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8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199" y="9749"/>
                  <a:pt x="43199" y="21599"/>
                </a:cubicBezTo>
              </a:path>
            </a:pathLst>
          </a:custGeom>
          <a:solidFill>
            <a:srgbClr val="FFFFFF">
              <a:alpha val="2235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2" name="Shape 1117"/>
          <p:cNvSpPr>
            <a:spLocks noChangeArrowheads="1" noGrp="1"/>
          </p:cNvSpPr>
          <p:nvPr userDrawn="1"/>
        </p:nvSpPr>
        <p:spPr bwMode="auto">
          <a:xfrm>
            <a:off x="1045633" y="503197"/>
            <a:ext cx="5284893" cy="397446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50" y="43200"/>
                  <a:pt x="21599" y="43200"/>
                </a:cubicBezTo>
                <a:lnTo>
                  <a:pt x="21599" y="43200"/>
                </a:lnTo>
                <a:cubicBezTo>
                  <a:pt x="9751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51" y="0"/>
                  <a:pt x="21599" y="0"/>
                </a:cubicBezTo>
                <a:lnTo>
                  <a:pt x="21599" y="0"/>
                </a:lnTo>
                <a:cubicBezTo>
                  <a:pt x="33450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392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3" name="Shape 1118"/>
          <p:cNvSpPr>
            <a:spLocks noChangeArrowheads="1" noGrp="1"/>
          </p:cNvSpPr>
          <p:nvPr userDrawn="1"/>
        </p:nvSpPr>
        <p:spPr bwMode="auto">
          <a:xfrm>
            <a:off x="1107444" y="531930"/>
            <a:ext cx="5105964" cy="383986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2549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4" name="Shape 1119"/>
          <p:cNvSpPr>
            <a:spLocks noChangeArrowheads="1" noGrp="1"/>
          </p:cNvSpPr>
          <p:nvPr userDrawn="1"/>
        </p:nvSpPr>
        <p:spPr bwMode="auto">
          <a:xfrm>
            <a:off x="1168964" y="560660"/>
            <a:ext cx="4927034" cy="37052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9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600"/>
                </a:cubicBezTo>
              </a:path>
            </a:pathLst>
          </a:custGeom>
          <a:solidFill>
            <a:srgbClr val="FFFFFF">
              <a:alpha val="2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5" name="Shape 1120"/>
          <p:cNvSpPr>
            <a:spLocks noChangeArrowheads="1" noGrp="1"/>
          </p:cNvSpPr>
          <p:nvPr userDrawn="1"/>
        </p:nvSpPr>
        <p:spPr bwMode="auto">
          <a:xfrm>
            <a:off x="2023254" y="5083093"/>
            <a:ext cx="1181945" cy="888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4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33"/>
                  <a:pt x="33534" y="43200"/>
                  <a:pt x="21600" y="43200"/>
                </a:cubicBezTo>
                <a:lnTo>
                  <a:pt x="21600" y="43200"/>
                </a:lnTo>
                <a:cubicBezTo>
                  <a:pt x="9665" y="43200"/>
                  <a:pt x="0" y="33533"/>
                  <a:pt x="0" y="21599"/>
                </a:cubicBezTo>
                <a:lnTo>
                  <a:pt x="0" y="21599"/>
                </a:lnTo>
                <a:cubicBezTo>
                  <a:pt x="0" y="9673"/>
                  <a:pt x="9665" y="0"/>
                  <a:pt x="21600" y="0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6" name="Shape 1121"/>
          <p:cNvSpPr>
            <a:spLocks noChangeArrowheads="1" noGrp="1"/>
          </p:cNvSpPr>
          <p:nvPr userDrawn="1"/>
        </p:nvSpPr>
        <p:spPr bwMode="auto">
          <a:xfrm>
            <a:off x="2851008" y="4515765"/>
            <a:ext cx="1869157" cy="140562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6" y="0"/>
                </a:moveTo>
                <a:lnTo>
                  <a:pt x="21596" y="0"/>
                </a:lnTo>
                <a:cubicBezTo>
                  <a:pt x="33526" y="0"/>
                  <a:pt x="43200" y="9669"/>
                  <a:pt x="43200" y="21601"/>
                </a:cubicBezTo>
                <a:lnTo>
                  <a:pt x="43200" y="21601"/>
                </a:lnTo>
                <a:cubicBezTo>
                  <a:pt x="43200" y="33530"/>
                  <a:pt x="33526" y="43200"/>
                  <a:pt x="21596" y="43200"/>
                </a:cubicBezTo>
                <a:lnTo>
                  <a:pt x="21596" y="43200"/>
                </a:lnTo>
                <a:cubicBezTo>
                  <a:pt x="9673" y="43200"/>
                  <a:pt x="0" y="33530"/>
                  <a:pt x="0" y="21601"/>
                </a:cubicBezTo>
                <a:lnTo>
                  <a:pt x="0" y="21601"/>
                </a:lnTo>
                <a:cubicBezTo>
                  <a:pt x="0" y="9669"/>
                  <a:pt x="9673" y="0"/>
                  <a:pt x="21596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9" name="Shape 1124"/>
          <p:cNvSpPr>
            <a:spLocks noChangeArrowheads="1" noGrp="1"/>
          </p:cNvSpPr>
          <p:nvPr userDrawn="1"/>
        </p:nvSpPr>
        <p:spPr bwMode="auto">
          <a:xfrm>
            <a:off x="3037840" y="4457826"/>
            <a:ext cx="835941" cy="6287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0" y="0"/>
                  <a:pt x="43200" y="9672"/>
                  <a:pt x="43200" y="21604"/>
                </a:cubicBezTo>
                <a:lnTo>
                  <a:pt x="43200" y="21604"/>
                </a:lnTo>
                <a:cubicBezTo>
                  <a:pt x="43200" y="33525"/>
                  <a:pt x="33530" y="43200"/>
                  <a:pt x="21600" y="43200"/>
                </a:cubicBezTo>
                <a:lnTo>
                  <a:pt x="21600" y="43200"/>
                </a:lnTo>
                <a:cubicBezTo>
                  <a:pt x="9669" y="43200"/>
                  <a:pt x="0" y="33525"/>
                  <a:pt x="0" y="21604"/>
                </a:cubicBezTo>
                <a:lnTo>
                  <a:pt x="0" y="21604"/>
                </a:lnTo>
                <a:cubicBezTo>
                  <a:pt x="0" y="9672"/>
                  <a:pt x="9669" y="0"/>
                  <a:pt x="21600" y="0"/>
                </a:cubicBezTo>
                <a:close/>
              </a:path>
            </a:pathLst>
          </a:custGeom>
          <a:solidFill>
            <a:srgbClr val="FFFFFF">
              <a:alpha val="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0" name="Shape 1125"/>
          <p:cNvSpPr>
            <a:spLocks noChangeArrowheads="1" noGrp="1"/>
          </p:cNvSpPr>
          <p:nvPr userDrawn="1"/>
        </p:nvSpPr>
        <p:spPr bwMode="auto">
          <a:xfrm>
            <a:off x="1016000" y="4613071"/>
            <a:ext cx="685800" cy="5155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27" y="0"/>
                  <a:pt x="43200" y="9668"/>
                  <a:pt x="43200" y="21599"/>
                </a:cubicBezTo>
                <a:lnTo>
                  <a:pt x="43200" y="21599"/>
                </a:lnTo>
                <a:cubicBezTo>
                  <a:pt x="43200" y="33530"/>
                  <a:pt x="33527" y="43200"/>
                  <a:pt x="21599" y="43200"/>
                </a:cubicBezTo>
                <a:lnTo>
                  <a:pt x="21599" y="43200"/>
                </a:lnTo>
                <a:cubicBezTo>
                  <a:pt x="9671" y="43200"/>
                  <a:pt x="0" y="33530"/>
                  <a:pt x="0" y="21599"/>
                </a:cubicBezTo>
                <a:lnTo>
                  <a:pt x="0" y="21599"/>
                </a:lnTo>
                <a:cubicBezTo>
                  <a:pt x="0" y="9668"/>
                  <a:pt x="9671" y="0"/>
                  <a:pt x="21599" y="0"/>
                </a:cubicBezTo>
                <a:close/>
              </a:path>
            </a:pathLst>
          </a:custGeom>
          <a:solidFill>
            <a:srgbClr val="FFFFFF">
              <a:alpha val="4509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3" name="Shape 1138"/>
          <p:cNvSpPr>
            <a:spLocks noChangeArrowheads="1" noGrp="1"/>
          </p:cNvSpPr>
          <p:nvPr userDrawn="1"/>
        </p:nvSpPr>
        <p:spPr bwMode="auto">
          <a:xfrm>
            <a:off x="2311404" y="4372901"/>
            <a:ext cx="796430" cy="5989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5"/>
                  <a:pt x="43200" y="21594"/>
                </a:cubicBezTo>
                <a:lnTo>
                  <a:pt x="43200" y="21594"/>
                </a:lnTo>
                <a:cubicBezTo>
                  <a:pt x="43200" y="33524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24"/>
                  <a:pt x="0" y="21594"/>
                </a:cubicBezTo>
                <a:lnTo>
                  <a:pt x="0" y="21594"/>
                </a:lnTo>
                <a:cubicBezTo>
                  <a:pt x="0" y="9675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4" name="Shape 1139"/>
          <p:cNvSpPr>
            <a:spLocks noChangeArrowheads="1" noGrp="1"/>
          </p:cNvSpPr>
          <p:nvPr userDrawn="1"/>
        </p:nvSpPr>
        <p:spPr bwMode="auto">
          <a:xfrm>
            <a:off x="1648464" y="4729109"/>
            <a:ext cx="755508" cy="56812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33" y="0"/>
                  <a:pt x="43200" y="9668"/>
                  <a:pt x="43200" y="21593"/>
                </a:cubicBezTo>
                <a:lnTo>
                  <a:pt x="43200" y="21593"/>
                </a:lnTo>
                <a:cubicBezTo>
                  <a:pt x="43200" y="33519"/>
                  <a:pt x="33533" y="43200"/>
                  <a:pt x="21608" y="43200"/>
                </a:cubicBezTo>
                <a:lnTo>
                  <a:pt x="21608" y="43200"/>
                </a:lnTo>
                <a:cubicBezTo>
                  <a:pt x="9682" y="43200"/>
                  <a:pt x="0" y="33519"/>
                  <a:pt x="0" y="21593"/>
                </a:cubicBezTo>
                <a:lnTo>
                  <a:pt x="0" y="21593"/>
                </a:lnTo>
                <a:cubicBezTo>
                  <a:pt x="0" y="9668"/>
                  <a:pt x="9682" y="0"/>
                  <a:pt x="21608" y="0"/>
                </a:cubicBezTo>
                <a:close/>
              </a:path>
            </a:pathLst>
          </a:custGeom>
          <a:solidFill>
            <a:srgbClr val="FFFFFF">
              <a:alpha val="2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5" name="Shape 1140"/>
          <p:cNvSpPr>
            <a:spLocks noChangeArrowheads="1" noGrp="1"/>
          </p:cNvSpPr>
          <p:nvPr userDrawn="1"/>
        </p:nvSpPr>
        <p:spPr bwMode="auto">
          <a:xfrm>
            <a:off x="1506501" y="5387076"/>
            <a:ext cx="753250" cy="5663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7" y="0"/>
                </a:moveTo>
                <a:lnTo>
                  <a:pt x="21607" y="0"/>
                </a:lnTo>
                <a:cubicBezTo>
                  <a:pt x="33536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26"/>
                  <a:pt x="33536" y="43200"/>
                  <a:pt x="21607" y="43200"/>
                </a:cubicBezTo>
                <a:lnTo>
                  <a:pt x="21607" y="43200"/>
                </a:lnTo>
                <a:cubicBezTo>
                  <a:pt x="9679" y="43200"/>
                  <a:pt x="0" y="33526"/>
                  <a:pt x="0" y="21599"/>
                </a:cubicBezTo>
                <a:lnTo>
                  <a:pt x="0" y="21599"/>
                </a:lnTo>
                <a:cubicBezTo>
                  <a:pt x="0" y="9673"/>
                  <a:pt x="9679" y="0"/>
                  <a:pt x="21607" y="0"/>
                </a:cubicBezTo>
                <a:close/>
              </a:path>
            </a:pathLst>
          </a:custGeom>
          <a:solidFill>
            <a:srgbClr val="FFFFFF">
              <a:alpha val="3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6" name="Shape 1141"/>
          <p:cNvSpPr>
            <a:spLocks noChangeArrowheads="1" noGrp="1"/>
          </p:cNvSpPr>
          <p:nvPr userDrawn="1"/>
        </p:nvSpPr>
        <p:spPr bwMode="auto">
          <a:xfrm>
            <a:off x="2370101" y="5855034"/>
            <a:ext cx="893514" cy="67193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4"/>
                  <a:pt x="43200" y="21605"/>
                </a:cubicBezTo>
                <a:lnTo>
                  <a:pt x="43200" y="21605"/>
                </a:lnTo>
                <a:cubicBezTo>
                  <a:pt x="43200" y="33535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35"/>
                  <a:pt x="0" y="21605"/>
                </a:cubicBezTo>
                <a:lnTo>
                  <a:pt x="0" y="21605"/>
                </a:lnTo>
                <a:cubicBezTo>
                  <a:pt x="0" y="9674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7" name="Shape 1142"/>
          <p:cNvSpPr>
            <a:spLocks noChangeArrowheads="1" noGrp="1"/>
          </p:cNvSpPr>
          <p:nvPr userDrawn="1"/>
        </p:nvSpPr>
        <p:spPr bwMode="auto">
          <a:xfrm>
            <a:off x="2241977" y="6244482"/>
            <a:ext cx="688340" cy="51780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1" y="0"/>
                </a:moveTo>
                <a:lnTo>
                  <a:pt x="21591" y="0"/>
                </a:lnTo>
                <a:cubicBezTo>
                  <a:pt x="33528" y="0"/>
                  <a:pt x="43198" y="9667"/>
                  <a:pt x="43198" y="21600"/>
                </a:cubicBezTo>
                <a:lnTo>
                  <a:pt x="43198" y="21600"/>
                </a:lnTo>
                <a:cubicBezTo>
                  <a:pt x="43198" y="33519"/>
                  <a:pt x="33528" y="43200"/>
                  <a:pt x="21591" y="43200"/>
                </a:cubicBezTo>
                <a:lnTo>
                  <a:pt x="21591" y="43200"/>
                </a:lnTo>
                <a:cubicBezTo>
                  <a:pt x="9670" y="43200"/>
                  <a:pt x="0" y="33519"/>
                  <a:pt x="0" y="21600"/>
                </a:cubicBezTo>
                <a:lnTo>
                  <a:pt x="0" y="21600"/>
                </a:lnTo>
                <a:cubicBezTo>
                  <a:pt x="0" y="9667"/>
                  <a:pt x="9670" y="0"/>
                  <a:pt x="21591" y="0"/>
                </a:cubicBezTo>
                <a:close/>
              </a:path>
            </a:pathLst>
          </a:custGeom>
          <a:solidFill>
            <a:srgbClr val="FFFFFF">
              <a:alpha val="3097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8" name="Shape 1143"/>
          <p:cNvSpPr>
            <a:spLocks noChangeArrowheads="1" noGrp="1"/>
          </p:cNvSpPr>
          <p:nvPr userDrawn="1"/>
        </p:nvSpPr>
        <p:spPr bwMode="auto">
          <a:xfrm>
            <a:off x="3596921" y="5964721"/>
            <a:ext cx="726440" cy="546216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31" y="0"/>
                  <a:pt x="43200" y="9666"/>
                  <a:pt x="43200" y="21605"/>
                </a:cubicBezTo>
                <a:lnTo>
                  <a:pt x="43200" y="21605"/>
                </a:lnTo>
                <a:cubicBezTo>
                  <a:pt x="43200" y="33533"/>
                  <a:pt x="33531" y="43200"/>
                  <a:pt x="21599" y="43200"/>
                </a:cubicBezTo>
                <a:lnTo>
                  <a:pt x="21599" y="43200"/>
                </a:lnTo>
                <a:cubicBezTo>
                  <a:pt x="9666" y="43200"/>
                  <a:pt x="0" y="33533"/>
                  <a:pt x="0" y="21605"/>
                </a:cubicBezTo>
                <a:lnTo>
                  <a:pt x="0" y="21605"/>
                </a:lnTo>
                <a:cubicBezTo>
                  <a:pt x="0" y="9666"/>
                  <a:pt x="9666" y="0"/>
                  <a:pt x="21599" y="0"/>
                </a:cubicBezTo>
                <a:close/>
              </a:path>
            </a:pathLst>
          </a:custGeom>
          <a:solidFill>
            <a:srgbClr val="FFFFFF">
              <a:alpha val="6745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9" name="Shape 1144"/>
          <p:cNvSpPr>
            <a:spLocks noChangeArrowheads="1" noGrp="1"/>
          </p:cNvSpPr>
          <p:nvPr userDrawn="1"/>
        </p:nvSpPr>
        <p:spPr bwMode="auto">
          <a:xfrm>
            <a:off x="3037844" y="5578670"/>
            <a:ext cx="977900" cy="73527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6" y="0"/>
                </a:moveTo>
                <a:lnTo>
                  <a:pt x="21606" y="0"/>
                </a:lnTo>
                <a:cubicBezTo>
                  <a:pt x="33524" y="0"/>
                  <a:pt x="43200" y="9671"/>
                  <a:pt x="43200" y="21599"/>
                </a:cubicBezTo>
                <a:lnTo>
                  <a:pt x="43200" y="21599"/>
                </a:lnTo>
                <a:cubicBezTo>
                  <a:pt x="43200" y="33528"/>
                  <a:pt x="33524" y="43200"/>
                  <a:pt x="21606" y="43200"/>
                </a:cubicBezTo>
                <a:lnTo>
                  <a:pt x="21606" y="43200"/>
                </a:lnTo>
                <a:cubicBezTo>
                  <a:pt x="9674" y="43200"/>
                  <a:pt x="0" y="33528"/>
                  <a:pt x="0" y="21599"/>
                </a:cubicBezTo>
                <a:lnTo>
                  <a:pt x="0" y="21599"/>
                </a:lnTo>
                <a:cubicBezTo>
                  <a:pt x="0" y="9671"/>
                  <a:pt x="9674" y="0"/>
                  <a:pt x="21606" y="0"/>
                </a:cubicBezTo>
                <a:close/>
              </a:path>
            </a:pathLst>
          </a:custGeom>
          <a:solidFill>
            <a:srgbClr val="FFFFFF">
              <a:alpha val="3137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2" name="Shape 1147"/>
          <p:cNvSpPr>
            <a:spLocks noChangeArrowheads="1" noGrp="1"/>
          </p:cNvSpPr>
          <p:nvPr userDrawn="1"/>
        </p:nvSpPr>
        <p:spPr bwMode="auto">
          <a:xfrm>
            <a:off x="2609712" y="36828"/>
            <a:ext cx="752404" cy="56589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41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41" y="43200"/>
                  <a:pt x="21600" y="43200"/>
                </a:cubicBezTo>
                <a:lnTo>
                  <a:pt x="21600" y="43200"/>
                </a:lnTo>
                <a:cubicBezTo>
                  <a:pt x="9673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3" y="0"/>
                  <a:pt x="21600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3" name="Shape 1148"/>
          <p:cNvSpPr>
            <a:spLocks noChangeArrowheads="1" noGrp="1"/>
          </p:cNvSpPr>
          <p:nvPr userDrawn="1"/>
        </p:nvSpPr>
        <p:spPr bwMode="auto">
          <a:xfrm>
            <a:off x="2272174" y="35716"/>
            <a:ext cx="748734" cy="5630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27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27" y="43200"/>
                  <a:pt x="21608" y="43200"/>
                </a:cubicBezTo>
                <a:lnTo>
                  <a:pt x="21608" y="43200"/>
                </a:lnTo>
                <a:cubicBezTo>
                  <a:pt x="9672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2" y="0"/>
                  <a:pt x="21608" y="0"/>
                </a:cubicBezTo>
                <a:close/>
              </a:path>
            </a:pathLst>
          </a:custGeom>
          <a:solidFill>
            <a:srgbClr val="FFFFFF">
              <a:alpha val="1647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799253" y="1600204"/>
            <a:ext cx="10577333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15413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7184183-74E9-4393-9769-E1D9236041BE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87829" y="274638"/>
            <a:ext cx="1058875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592277" y="6356353"/>
            <a:ext cx="278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A530004-958A-4E15-9840-E9741BECB0F3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 b="1">
          <a:solidFill>
            <a:schemeClr val="accent6">
              <a:lumMod val="50000"/>
            </a:schemeClr>
          </a:solidFill>
          <a:latin typeface="+mj-lt"/>
          <a:ea typeface="+mj-ea"/>
          <a:cs typeface="Arial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arguana/fitness_project_fin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ctr">
              <a:buNone/>
              <a:defRPr/>
            </a:pPr>
            <a:r>
              <a:rPr sz="3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Fitness Recommendation System</a:t>
            </a:r>
            <a:endParaRPr sz="36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 bwMode="auto">
          <a:xfrm>
            <a:off x="1523880" y="3602160"/>
            <a:ext cx="9142920" cy="165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>
              <a:buNone/>
              <a:defRPr/>
            </a:pPr>
            <a:r>
              <a:rPr sz="2400" b="0" strike="noStrike" spc="-1">
                <a:solidFill>
                  <a:srgbClr val="000000"/>
                </a:solidFill>
                <a:latin typeface="Liberation Sans"/>
                <a:cs typeface="Liberation Sans"/>
              </a:rPr>
              <a:t>Разработка интерактивного рекомендательного сервиса для улучшения образа жизни на основе анализа пользовательских данных</a:t>
            </a:r>
            <a:endParaRPr sz="24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433379" name=""/>
          <p:cNvSpPr txBox="1"/>
          <p:nvPr/>
        </p:nvSpPr>
        <p:spPr bwMode="auto">
          <a:xfrm flipH="0" flipV="0">
            <a:off x="591524" y="400049"/>
            <a:ext cx="520640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Цель проекта :</a:t>
            </a:r>
            <a:endParaRPr/>
          </a:p>
        </p:txBody>
      </p:sp>
      <p:sp>
        <p:nvSpPr>
          <p:cNvPr id="1206465686" name=""/>
          <p:cNvSpPr txBox="1"/>
          <p:nvPr/>
        </p:nvSpPr>
        <p:spPr bwMode="auto">
          <a:xfrm flipH="0" flipV="0">
            <a:off x="791549" y="1162049"/>
            <a:ext cx="9001845" cy="3749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ИССЛЕДОВАТЕЛЬСКАЯ ЗАДАЧА:
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- Проанализировать паттерны поведения пользователей в фитнесе
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- Выявить скрытые группы пользователей с помощью ML
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- Исследовать взаимосвязи между параметрами и результатами
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DATA SCIENCE ЗАДАЧИ:
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- Кластеризация пользователей на основе их характеристик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Построение рекомендательной системы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Оценка качества кластеризации и рекомендаций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Визуализация результатов анализа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7201" name=""/>
          <p:cNvSpPr txBox="1"/>
          <p:nvPr/>
        </p:nvSpPr>
        <p:spPr bwMode="auto">
          <a:xfrm flipH="0" flipV="0">
            <a:off x="667724" y="581025"/>
            <a:ext cx="9922199" cy="5517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ДАННЫЕ И АНАЛИЗ</a:t>
            </a:r>
            <a:endParaRPr lang="ru-RU" sz="1800" b="1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18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Синтетический dataset</a:t>
            </a: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с платформы Kaggle
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- Сгенерирован для исследования фитнес-паттернов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- 20,000 записей с реалистичными распределениями
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СТРУКТУРА ДАННЫХ:
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- Демография: возраст, пол, вес, рост, BMI
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- Тренировки: тип, частота, уровень опыта  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Питание: калории, белки, жиры, углеводы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Метрики: процент жира, сожженные калории
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ПРЕДОБРАБОТКА: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Очистка: удаление дубликатов и выбросов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Feature Engineering: создание BMI, BMR, protein_per_kg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Кодирование: One-Hot для категориальных признаков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Нормализация: StandardScaler для числовых признаков</a:t>
            </a:r>
            <a:endParaRPr sz="2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01442" name=""/>
          <p:cNvSpPr txBox="1"/>
          <p:nvPr/>
        </p:nvSpPr>
        <p:spPr bwMode="auto">
          <a:xfrm flipH="0" flipV="0">
            <a:off x="639149" y="361950"/>
            <a:ext cx="11504789" cy="48771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МЕТОДЫ И АЛГОРИТМЫ</a:t>
            </a:r>
            <a:endParaRPr sz="1600" b="1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10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K-MEANS
*(Метод K-средних для кластеризации)*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Автоматическое разделение пользователей на группы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Выявление типичных профилей
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K-NN (K-NEAREST NEIGHBORS)  
*(Метод k-ближайших соседей)*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Поиск пользователей с похожими характеристиками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Персонализированные рекомендации на основе успешного опыта</a:t>
            </a:r>
            <a:endParaRPr sz="1600" b="1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МЕТРИКИ КАЧЕСТВА: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Silhouette Score: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Coverage: 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Diversity: 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A/B Test: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ТЕХНОЛОГИЧЕСКИЙ СТЕК: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from sklearn .cluster import KMeans
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from sklearn.neighbors import NearestNeighbors
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from sklearn.metrics import silhouette_score
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from sklearn.preprocessing import StandardScaler, OneHotEncoder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</p:txBody>
      </p:sp>
      <p:sp>
        <p:nvSpPr>
          <p:cNvPr id="29733646" name=""/>
          <p:cNvSpPr txBox="1"/>
          <p:nvPr/>
        </p:nvSpPr>
        <p:spPr bwMode="auto">
          <a:xfrm flipH="0" flipV="0">
            <a:off x="6116024" y="647700"/>
            <a:ext cx="436245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482218816" name=""/>
          <p:cNvSpPr txBox="1"/>
          <p:nvPr/>
        </p:nvSpPr>
        <p:spPr bwMode="auto">
          <a:xfrm flipH="0" flipV="0">
            <a:off x="8049599" y="285750"/>
            <a:ext cx="3896805" cy="475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800" b="0" i="0" u="none" strike="noStrike" cap="none" spc="0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ПАЙПЛАЙН ОБРАБОТКИ:</a:t>
            </a:r>
            <a:br>
              <a:rPr lang="ru-RU" sz="1800" b="0" i="0" u="none" strike="noStrike" cap="none" spc="0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</a:br>
            <a:endParaRPr sz="18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1. </a:t>
            </a:r>
            <a:r>
              <a:rPr lang="ru-RU" sz="1800" b="0" i="0" u="none" strike="noStrike" cap="none" spc="0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Предобработка:</a:t>
            </a:r>
            <a:endParaRPr sz="18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StandardScaler + OneHotEncoder</a:t>
            </a:r>
            <a:br>
              <a:rPr lang="ru-RU" sz="1800" b="0" i="0" u="none" strike="noStrike" cap="none" spc="0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</a:br>
            <a:endParaRPr sz="18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2. Кластеризация:</a:t>
            </a:r>
            <a:endParaRPr sz="18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K-Means с оптимизацией числа кластеров</a:t>
            </a:r>
            <a:br>
              <a:rPr lang="ru-RU" sz="1800" b="0" i="0" u="none" strike="noStrike" cap="none" spc="0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</a:br>
            <a:endParaRPr sz="18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3. Рекомендации:</a:t>
            </a:r>
            <a:endParaRPr sz="18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Cosine Similarity между пользователями</a:t>
            </a:r>
            <a:br>
              <a:rPr lang="ru-RU" sz="1800" b="0" i="0" u="none" strike="noStrike" cap="none" spc="0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</a:br>
            <a:endParaRPr sz="18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4. **Валидация:** оценка качества кластеров и рекомендаций</a:t>
            </a:r>
            <a:br>
              <a:rPr lang="ru-RU" sz="1800" b="0" i="0" u="none" strike="noStrike" cap="none" spc="0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</a:br>
            <a:br>
              <a:rPr lang="ru-RU" sz="1800" b="0" i="0" u="none" strike="noStrike" cap="none" spc="0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</a:b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566365" name=""/>
          <p:cNvSpPr txBox="1"/>
          <p:nvPr/>
        </p:nvSpPr>
        <p:spPr bwMode="auto">
          <a:xfrm flipH="0" flipV="0">
            <a:off x="762974" y="381000"/>
            <a:ext cx="10122749" cy="61878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ОЦЕНКА КАЧЕСТВА СИСТЕМЫ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SILHOUETTE SCORE: 0.63 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"Насколько хорошо разделились группы пользователей"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- 0.63 = ХОРОШЕЕ качество кластеризации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Пользователи четко разделены на 2 группы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Внутри групп - похожи, между группами - отличаются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COVERAGE: 100% 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"Сколько пользователей получают рекомендации"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- 100% = система работает для ВСЕХ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Никому не отказывает 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Универсальность работы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DIVERSITY: 44% 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"Разнообразие выданных рекомендаций"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- 44% = хорошее разнообразие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Система не выдает всем одно и то же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Есть персонализация советов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A/B TEST: +58% 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"Насколько система лучше случайных рекомендаций"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+58% = значительно эффективнее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Умная система против простого угадывания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Доказывает ценность ML-подхода</a:t>
            </a:r>
            <a:endParaRPr sz="1600"/>
          </a:p>
        </p:txBody>
      </p:sp>
      <p:sp>
        <p:nvSpPr>
          <p:cNvPr id="1005094204" name=""/>
          <p:cNvSpPr/>
          <p:nvPr/>
        </p:nvSpPr>
        <p:spPr bwMode="auto">
          <a:xfrm flipH="0" flipV="0">
            <a:off x="5049225" y="457199"/>
            <a:ext cx="1133475" cy="304800"/>
          </a:xfrm>
          <a:prstGeom prst="leftArrow">
            <a:avLst>
              <a:gd name="adj1" fmla="val 50000"/>
              <a:gd name="adj2" fmla="val 50000"/>
            </a:avLst>
          </a:prstGeom>
          <a:ln w="25400" cap="flat" cmpd="sng" algn="ctr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305990" name=""/>
          <p:cNvSpPr txBox="1"/>
          <p:nvPr/>
        </p:nvSpPr>
        <p:spPr bwMode="auto">
          <a:xfrm flipH="0" flipV="0">
            <a:off x="429599" y="390524"/>
            <a:ext cx="5915745" cy="499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0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8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АНАЛИЗ КЛАСТЕРОВ И ВИЗУАЛИЗАЦИЯ</a:t>
            </a:r>
            <a:endParaRPr sz="1800"/>
          </a:p>
          <a:p>
            <a:pPr>
              <a:defRPr/>
            </a:pPr>
            <a:endParaRPr sz="1800"/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МЕТОД ЛОКТЯ: ОПРЕДЕЛЕНИЕ ЧИСЛА КЛАСТЕРОВ
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"Находим оптимальное количество групп пользователей"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Анализировали значения от 2 до 10 кластеров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- На графике выбрали "изгиб"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- точку k=2
- 2 кластера оптимально разделяют пользователей</a:t>
            </a:r>
            <a:endParaRPr sz="1400"/>
          </a:p>
          <a:p>
            <a:pPr>
              <a:defRPr/>
            </a:pPr>
            <a:endParaRPr sz="1400"/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ПРОФИЛИ КЛАСТЕРОВ: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КЛАСТЕР 0: ФИТНЕС-ЭНТУЗИАСТЫ (64.3%)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Средний BMI:21.8 (норма)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Тренировки: Strength, высокая частота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- *Питание: сбалансированное, High-Protein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- Цели: поддержание формы, рост мышц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1400"/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КЛАСТЕР 1: ГРУППА СНИЖЕНИЯ ВЕСА (35.7%)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- Средний BMI: 30.1 (ожирение 1 степени)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- </a:t>
            </a: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Тренировки: Cardio, Yoga, умеренная частота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Питание: Low-Carb, контролируемые калории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- Цели:снижение веса, оздоровление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</p:txBody>
      </p:sp>
      <p:pic>
        <p:nvPicPr>
          <p:cNvPr id="166688933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6000286" y="2276474"/>
            <a:ext cx="6078388" cy="4257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952792" name=""/>
          <p:cNvSpPr txBox="1"/>
          <p:nvPr/>
        </p:nvSpPr>
        <p:spPr bwMode="auto">
          <a:xfrm flipH="0" flipV="0">
            <a:off x="534374" y="485774"/>
            <a:ext cx="8848559" cy="5212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РЕКОМЕНДАТЕЛЬНАЯ СИСТЕМА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ПРИНЦИП РАБОТЫ: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1. "ОПРЕДЕЛЯЕМ ВАШУ ГРУППУ"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Анализируем ваши параметры (возраст, вес, BMI, опыт)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K-Means относит вас к одной из 2 групп пользователей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2. "НАХОДИМ ВАШИХ ДВОЙНИКОВ"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В вашей группе ищем самых похожих пользователей  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Сравниваем по 20+ характеристикам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3. "ПОКАЗЫВАЕМ ЧТО ДЕЛАЮТ ПОХОЖИЕ"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Смотрим какие тренировки выбирают похожие люди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Анализируем их подход к питанию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Показываем средние параметры их режима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ЧТО РЕКОМЕНДУЕМ: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Тип тренировок: какой выбирают похожие пользователи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Тип питания: какая диета популярна в вашей группе  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Режим: средняя частота тренировок и калорийность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 Советы: общие рекомендации для вашего кластера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766901" name=""/>
          <p:cNvSpPr/>
          <p:nvPr/>
        </p:nvSpPr>
        <p:spPr bwMode="auto">
          <a:xfrm>
            <a:off x="4688919" y="457200"/>
            <a:ext cx="2166821" cy="3203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5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Streamlit интерфейс</a:t>
            </a:r>
            <a:endParaRPr/>
          </a:p>
        </p:txBody>
      </p:sp>
      <p:pic>
        <p:nvPicPr>
          <p:cNvPr id="1456812858" name=""/>
          <p:cNvPicPr>
            <a:picLocks noChangeAspect="1"/>
          </p:cNvPicPr>
          <p:nvPr/>
        </p:nvPicPr>
        <p:blipFill>
          <a:blip r:embed="rId2"/>
          <a:srcRect l="0" t="3917" r="0" b="0"/>
          <a:stretch/>
        </p:blipFill>
        <p:spPr bwMode="auto">
          <a:xfrm flipH="0" flipV="0">
            <a:off x="2201250" y="777600"/>
            <a:ext cx="7678095" cy="4149751"/>
          </a:xfrm>
          <a:prstGeom prst="rect">
            <a:avLst/>
          </a:prstGeom>
        </p:spPr>
      </p:pic>
      <p:pic>
        <p:nvPicPr>
          <p:cNvPr id="1839766159" name=""/>
          <p:cNvPicPr>
            <a:picLocks noChangeAspect="1"/>
          </p:cNvPicPr>
          <p:nvPr/>
        </p:nvPicPr>
        <p:blipFill>
          <a:blip r:embed="rId3"/>
          <a:srcRect l="0" t="12166" r="0" b="27739"/>
          <a:stretch/>
        </p:blipFill>
        <p:spPr bwMode="auto">
          <a:xfrm flipH="0" flipV="0">
            <a:off x="2201250" y="4193963"/>
            <a:ext cx="7678094" cy="2183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3881145" name=""/>
          <p:cNvPicPr>
            <a:picLocks noChangeAspect="1"/>
          </p:cNvPicPr>
          <p:nvPr/>
        </p:nvPicPr>
        <p:blipFill>
          <a:blip r:embed="rId2"/>
          <a:srcRect l="0" t="16949" r="0" b="0"/>
          <a:stretch/>
        </p:blipFill>
        <p:spPr bwMode="auto">
          <a:xfrm flipH="0" flipV="0">
            <a:off x="1066799" y="419099"/>
            <a:ext cx="8991600" cy="4200525"/>
          </a:xfrm>
          <a:prstGeom prst="rect">
            <a:avLst/>
          </a:prstGeom>
        </p:spPr>
      </p:pic>
      <p:pic>
        <p:nvPicPr>
          <p:cNvPr id="847725016" name=""/>
          <p:cNvPicPr>
            <a:picLocks noChangeAspect="1"/>
          </p:cNvPicPr>
          <p:nvPr/>
        </p:nvPicPr>
        <p:blipFill>
          <a:blip r:embed="rId3"/>
          <a:srcRect l="0" t="18079" r="0" b="22222"/>
          <a:stretch/>
        </p:blipFill>
        <p:spPr bwMode="auto">
          <a:xfrm flipH="0" flipV="0">
            <a:off x="1066799" y="2847974"/>
            <a:ext cx="8991600" cy="3019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313439" name=""/>
          <p:cNvSpPr txBox="1"/>
          <p:nvPr/>
        </p:nvSpPr>
        <p:spPr bwMode="auto">
          <a:xfrm flipH="0" flipV="0">
            <a:off x="572475" y="304800"/>
            <a:ext cx="9961739" cy="64316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ВЫВОДЫ И ЗАКЛЮЧЕНИЕ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1. УСПЕШНАЯ КЛАСТЕРИЗАЦИЯ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- Выделены 2 четкие группы пользователей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Кластеры имеют понятную интерпретацию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Silhouette Score 0.63 подтверждает качество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2. РАБОТОСПОСОБНАЯ РЕКОМЕНДАТЕЛЬНАЯ СИСТЕМА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- Система выдает персонализированные рекомендации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3. ПОДТВЕРЖДЕННАЯ ЭФФЕКТИВНОСТЬ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- Метрики показывают практическую ценность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Система готова к использованию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ЗАКЛЮЧЕНИЕ: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DATA SCIENCE ЦЕННОСТЬ:
- Реализован полный ML пайплайн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- Доказана эффективность подхода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- Создана основа для фитнес-приложения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ПРАКТИЧЕСКАЯ ПОЛЬЗА:
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- Помощь в выборе тренировок и питания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- Персонализация на основе данных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📁 GITHUB РЕПОЗИТОРИЙ:
**https://github.com/Marguana/fitness_project_final**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
</a:t>
            </a:r>
            <a:r>
              <a:rPr u="sng">
                <a:solidFill>
                  <a:schemeClr val="hlink"/>
                </a:solidFill>
                <a:hlinkClick r:id="rId2" tooltip="https://github.com/Marguana/fitness_project_final"/>
              </a:rPr>
              <a:t>Marguana/fitness_project_final: "Personalized fitness and nutrition recommendation system using machine learning"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lang="ru-RU" sz="1400" b="0" i="0" u="none" strike="noStrike" cap="none" spc="0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http://localhost:8501/</a:t>
            </a:r>
            <a:endParaRPr sz="14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ial">
  <a:themeElements>
    <a:clrScheme name="Official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Классическая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R7-Office/2024.1.1.375</Application>
  <DocSecurity>0</DocSecurity>
  <PresentationFormat/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>ru-RU</dc:language>
  <cp:lastModifiedBy>Маргарита Хребтова</cp:lastModifiedBy>
  <cp:revision>4</cp:revision>
  <dcterms:created xsi:type="dcterms:W3CDTF">2023-08-25T13:22:51Z</dcterms:created>
  <dcterms:modified xsi:type="dcterms:W3CDTF">2025-11-25T21:28:52Z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</vt:i4>
  </property>
</Properties>
</file>